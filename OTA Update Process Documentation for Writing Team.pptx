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DAF4A-28AF-4F15-9EC6-5BB25512B722}" type="datetimeFigureOut">
              <a:rPr lang="en-US" smtClean="0"/>
              <a:t>7/8/2025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2F78C-3EB7-4431-9609-3BF4547CDF79}" type="slidenum">
              <a:rPr lang="en-US" smtClean="0"/>
              <a:t>‹#›</a:t>
            </a:fld>
            <a:endParaRPr lang="en-US"/>
          </a:p>
        </p:txBody>
      </p:sp>
    </p:spTree>
    <p:extLst>
      <p:ext uri="{BB962C8B-B14F-4D97-AF65-F5344CB8AC3E}">
        <p14:creationId xmlns:p14="http://schemas.microsoft.com/office/powerpoint/2010/main" val="11361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12F78C-3EB7-4431-9609-3BF4547CDF79}" type="slidenum">
              <a:rPr lang="en-US" smtClean="0"/>
              <a:t>1</a:t>
            </a:fld>
            <a:endParaRPr lang="en-US"/>
          </a:p>
        </p:txBody>
      </p:sp>
    </p:spTree>
    <p:extLst>
      <p:ext uri="{BB962C8B-B14F-4D97-AF65-F5344CB8AC3E}">
        <p14:creationId xmlns:p14="http://schemas.microsoft.com/office/powerpoint/2010/main" val="2857239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99E08-91B8-9205-D3DF-7FE920CEBE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1B6757-D611-BC5C-0679-8DF3B81C8F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0A29F7-EDB0-A345-992D-CA5807CA3B47}"/>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5" name="Footer Placeholder 4">
            <a:extLst>
              <a:ext uri="{FF2B5EF4-FFF2-40B4-BE49-F238E27FC236}">
                <a16:creationId xmlns:a16="http://schemas.microsoft.com/office/drawing/2014/main" id="{7EB449EB-F6DC-3271-69E5-D2BB020379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453589-32E6-5B19-A0FC-BAFA3C28BFD5}"/>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58918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ACF2E-F52B-3AAC-1501-FB4E33A80B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6906A1-F5D1-6BD3-147F-639498688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6B4F68-9316-5D90-7881-9DF2E91CE461}"/>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5" name="Footer Placeholder 4">
            <a:extLst>
              <a:ext uri="{FF2B5EF4-FFF2-40B4-BE49-F238E27FC236}">
                <a16:creationId xmlns:a16="http://schemas.microsoft.com/office/drawing/2014/main" id="{00062101-D47D-6E72-66D8-CB96D165C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24B8B8-0290-237D-EA63-BEE74404CAC5}"/>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3949571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90A9C-D6C0-ADB8-C92D-AA9C7D049E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4F8C09-93F6-6FC3-7C51-2B88180410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17682F-6014-27B2-5442-77136BED05F5}"/>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5" name="Footer Placeholder 4">
            <a:extLst>
              <a:ext uri="{FF2B5EF4-FFF2-40B4-BE49-F238E27FC236}">
                <a16:creationId xmlns:a16="http://schemas.microsoft.com/office/drawing/2014/main" id="{3CC8A91A-92F8-92ED-B9A6-D6667073E6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D6FA08-B582-A6A1-D9FD-7171C07AE6D6}"/>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645715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1D760-3354-660E-C6F7-68BFDEB9CD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49520D-0AAD-8CEA-9EEB-C9911E69E6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355E8B-BD94-EB15-A9A8-22B91893C4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461B51-44EB-A64F-A07F-87C9A1B3A6FD}"/>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6" name="Footer Placeholder 5">
            <a:extLst>
              <a:ext uri="{FF2B5EF4-FFF2-40B4-BE49-F238E27FC236}">
                <a16:creationId xmlns:a16="http://schemas.microsoft.com/office/drawing/2014/main" id="{B9B79EA5-7342-EDF5-B132-7192B9D5F4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F29D21-0D34-00AC-F8DB-9E6C7D43E9BA}"/>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3126057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75A6-B0B5-913B-9DDF-A236936F20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5D1C87-4B29-3F41-ECAE-999D75DDEB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A575DF-3FD3-7E71-72D7-CDDC3A32EC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1C2F1C-1877-DAA3-9460-4692586182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6507C3-C0DC-9F1A-5E50-9B2A55D5DF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95DAA1-15DC-8344-7663-134EC1621347}"/>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8" name="Footer Placeholder 7">
            <a:extLst>
              <a:ext uri="{FF2B5EF4-FFF2-40B4-BE49-F238E27FC236}">
                <a16:creationId xmlns:a16="http://schemas.microsoft.com/office/drawing/2014/main" id="{E5E8DB09-06C7-DE71-25EA-A67FC113BB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81C9E7-B05A-F464-FAD3-92C14292D9E5}"/>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2130894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5FAFA-B2D5-87B0-01C1-76AB768D25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D839E2-26B0-2801-836E-B66719603FC5}"/>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4" name="Footer Placeholder 3">
            <a:extLst>
              <a:ext uri="{FF2B5EF4-FFF2-40B4-BE49-F238E27FC236}">
                <a16:creationId xmlns:a16="http://schemas.microsoft.com/office/drawing/2014/main" id="{4EF74E26-EA4C-4855-36AD-AE24422816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693A177-E50F-592B-A650-8413911AFFE5}"/>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4207962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7365F0-2896-807F-ADA6-764E9B981D91}"/>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3" name="Footer Placeholder 2">
            <a:extLst>
              <a:ext uri="{FF2B5EF4-FFF2-40B4-BE49-F238E27FC236}">
                <a16:creationId xmlns:a16="http://schemas.microsoft.com/office/drawing/2014/main" id="{91E6C282-766E-4EF5-278E-817ADF0A1C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C1AD38-FEB8-E076-2BD0-30FF4C22798A}"/>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1083502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654B7-88E3-7F50-28EE-106D127192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274882-51A3-C78D-47DC-77BE880868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D659F0-346A-9BBE-D64C-6A06139A4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1862F5-7B13-47EC-7E81-796186832874}"/>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6" name="Footer Placeholder 5">
            <a:extLst>
              <a:ext uri="{FF2B5EF4-FFF2-40B4-BE49-F238E27FC236}">
                <a16:creationId xmlns:a16="http://schemas.microsoft.com/office/drawing/2014/main" id="{CE61F237-A468-F606-986B-82EAA024F8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21293B-A9B7-D325-EF4C-0125DD573A97}"/>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3738752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C8F9-7647-D605-EDBB-1B00654DA8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B31952-8D95-983F-73EE-B44D9D1DEE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0CC6F7-1FD3-3A89-D41C-8AEB5A856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369176-BF4D-4112-0717-354D26CC4943}"/>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6" name="Footer Placeholder 5">
            <a:extLst>
              <a:ext uri="{FF2B5EF4-FFF2-40B4-BE49-F238E27FC236}">
                <a16:creationId xmlns:a16="http://schemas.microsoft.com/office/drawing/2014/main" id="{C1C13535-223C-93C9-BB5C-16E6F5BEED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5CF36F-2327-7B2A-51CE-EB9F6E781F0C}"/>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1397965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B59D-B4DC-E7B0-B4B2-8836CE397B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01D72A-5729-8B78-85D9-1557B9F1D5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7DF3D1-DFD3-0911-A10A-D1E682E8106C}"/>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5" name="Footer Placeholder 4">
            <a:extLst>
              <a:ext uri="{FF2B5EF4-FFF2-40B4-BE49-F238E27FC236}">
                <a16:creationId xmlns:a16="http://schemas.microsoft.com/office/drawing/2014/main" id="{3A361439-BB0E-B4D3-9C03-FE89784DB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D758C-2D1A-43E9-4C25-451AE0881100}"/>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413791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461474-584A-F873-C6DA-95D381BEBC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88C591-2719-8B55-4D93-3D9FE80A43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C7903-F82C-1CB5-83AE-1DC08A5544CC}"/>
              </a:ext>
            </a:extLst>
          </p:cNvPr>
          <p:cNvSpPr>
            <a:spLocks noGrp="1"/>
          </p:cNvSpPr>
          <p:nvPr>
            <p:ph type="dt" sz="half" idx="10"/>
          </p:nvPr>
        </p:nvSpPr>
        <p:spPr/>
        <p:txBody>
          <a:bodyPr/>
          <a:lstStyle/>
          <a:p>
            <a:fld id="{607C2E87-6E5C-45A0-B0F0-97DEC35401CB}" type="datetimeFigureOut">
              <a:rPr lang="en-US" smtClean="0"/>
              <a:t>7/8/2025</a:t>
            </a:fld>
            <a:endParaRPr lang="en-US"/>
          </a:p>
        </p:txBody>
      </p:sp>
      <p:sp>
        <p:nvSpPr>
          <p:cNvPr id="5" name="Footer Placeholder 4">
            <a:extLst>
              <a:ext uri="{FF2B5EF4-FFF2-40B4-BE49-F238E27FC236}">
                <a16:creationId xmlns:a16="http://schemas.microsoft.com/office/drawing/2014/main" id="{8A8E45EC-8E06-041E-6ED9-D31D0B208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60537-4D22-9DCC-DE75-30459209D10D}"/>
              </a:ext>
            </a:extLst>
          </p:cNvPr>
          <p:cNvSpPr>
            <a:spLocks noGrp="1"/>
          </p:cNvSpPr>
          <p:nvPr>
            <p:ph type="sldNum" sz="quarter" idx="12"/>
          </p:nvPr>
        </p:nvSpPr>
        <p:spPr/>
        <p:txBody>
          <a:bodyPr/>
          <a:lstStyle/>
          <a:p>
            <a:fld id="{BEA65D9A-3414-4E02-882A-2CFC96960BC2}" type="slidenum">
              <a:rPr lang="en-US" smtClean="0"/>
              <a:t>‹#›</a:t>
            </a:fld>
            <a:endParaRPr lang="en-US"/>
          </a:p>
        </p:txBody>
      </p:sp>
    </p:spTree>
    <p:extLst>
      <p:ext uri="{BB962C8B-B14F-4D97-AF65-F5344CB8AC3E}">
        <p14:creationId xmlns:p14="http://schemas.microsoft.com/office/powerpoint/2010/main" val="3707270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4B44FE-231A-9B46-209D-37BA1EB972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9E26D8-75DD-B94F-D130-ACD07471D2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4545A-A1D2-100B-0433-17A8624CDE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7C2E87-6E5C-45A0-B0F0-97DEC35401CB}" type="datetimeFigureOut">
              <a:rPr lang="en-US" smtClean="0"/>
              <a:t>7/8/2025</a:t>
            </a:fld>
            <a:endParaRPr lang="en-US"/>
          </a:p>
        </p:txBody>
      </p:sp>
      <p:sp>
        <p:nvSpPr>
          <p:cNvPr id="5" name="Footer Placeholder 4">
            <a:extLst>
              <a:ext uri="{FF2B5EF4-FFF2-40B4-BE49-F238E27FC236}">
                <a16:creationId xmlns:a16="http://schemas.microsoft.com/office/drawing/2014/main" id="{4F6D88A1-41C2-86C7-FC1A-2D13BC98BC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C3D599-4EB9-F6A0-F250-304D927A28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A65D9A-3414-4E02-882A-2CFC96960BC2}" type="slidenum">
              <a:rPr lang="en-US" smtClean="0"/>
              <a:t>‹#›</a:t>
            </a:fld>
            <a:endParaRPr lang="en-US"/>
          </a:p>
        </p:txBody>
      </p:sp>
    </p:spTree>
    <p:extLst>
      <p:ext uri="{BB962C8B-B14F-4D97-AF65-F5344CB8AC3E}">
        <p14:creationId xmlns:p14="http://schemas.microsoft.com/office/powerpoint/2010/main" val="2971708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A3C02-049C-22F4-58F6-71B541D0182B}"/>
              </a:ext>
            </a:extLst>
          </p:cNvPr>
          <p:cNvSpPr>
            <a:spLocks noGrp="1"/>
          </p:cNvSpPr>
          <p:nvPr>
            <p:ph type="ctrTitle"/>
          </p:nvPr>
        </p:nvSpPr>
        <p:spPr>
          <a:xfrm>
            <a:off x="1524000" y="794108"/>
            <a:ext cx="9144000" cy="1543511"/>
          </a:xfrm>
          <a:solidFill>
            <a:schemeClr val="tx2">
              <a:lumMod val="50000"/>
              <a:lumOff val="50000"/>
            </a:schemeClr>
          </a:solidFill>
        </p:spPr>
        <p:txBody>
          <a:bodyPr>
            <a:normAutofit/>
          </a:bodyPr>
          <a:lstStyle/>
          <a:p>
            <a:r>
              <a:rPr lang="en-US" sz="4400" b="1" dirty="0">
                <a:solidFill>
                  <a:schemeClr val="bg1"/>
                </a:solidFill>
              </a:rPr>
              <a:t>OTA Update Process Documentation for Writing Team</a:t>
            </a:r>
          </a:p>
        </p:txBody>
      </p:sp>
      <p:sp>
        <p:nvSpPr>
          <p:cNvPr id="3" name="Subtitle 2">
            <a:extLst>
              <a:ext uri="{FF2B5EF4-FFF2-40B4-BE49-F238E27FC236}">
                <a16:creationId xmlns:a16="http://schemas.microsoft.com/office/drawing/2014/main" id="{4B6036EF-CBCA-F2AF-7C93-F7F4C309DD6B}"/>
              </a:ext>
            </a:extLst>
          </p:cNvPr>
          <p:cNvSpPr>
            <a:spLocks noGrp="1"/>
          </p:cNvSpPr>
          <p:nvPr>
            <p:ph type="subTitle" idx="1"/>
          </p:nvPr>
        </p:nvSpPr>
        <p:spPr>
          <a:xfrm>
            <a:off x="1524000" y="4886631"/>
            <a:ext cx="9144000" cy="806245"/>
          </a:xfrm>
        </p:spPr>
        <p:txBody>
          <a:bodyPr>
            <a:normAutofit fontScale="85000" lnSpcReduction="20000"/>
          </a:bodyPr>
          <a:lstStyle/>
          <a:p>
            <a:r>
              <a:rPr lang="en-US" i="1" dirty="0"/>
              <a:t>***NOTE: Some content has been blurred or excluded for portfolio purposes. This document was originally created in Figma, which may have resulted in some image distortion. </a:t>
            </a:r>
          </a:p>
        </p:txBody>
      </p:sp>
    </p:spTree>
    <p:extLst>
      <p:ext uri="{BB962C8B-B14F-4D97-AF65-F5344CB8AC3E}">
        <p14:creationId xmlns:p14="http://schemas.microsoft.com/office/powerpoint/2010/main" val="3526837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BD71E-6111-A70F-258E-F830BEAA795F}"/>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Overview</a:t>
            </a:r>
          </a:p>
        </p:txBody>
      </p:sp>
      <p:sp>
        <p:nvSpPr>
          <p:cNvPr id="4" name="TextBox 3">
            <a:extLst>
              <a:ext uri="{FF2B5EF4-FFF2-40B4-BE49-F238E27FC236}">
                <a16:creationId xmlns:a16="http://schemas.microsoft.com/office/drawing/2014/main" id="{6C9B8F86-39B2-34C1-8345-3A12FC38C37F}"/>
              </a:ext>
            </a:extLst>
          </p:cNvPr>
          <p:cNvSpPr txBox="1"/>
          <p:nvPr/>
        </p:nvSpPr>
        <p:spPr>
          <a:xfrm>
            <a:off x="838200" y="1150374"/>
            <a:ext cx="10515600" cy="4524315"/>
          </a:xfrm>
          <a:prstGeom prst="rect">
            <a:avLst/>
          </a:prstGeom>
          <a:noFill/>
        </p:spPr>
        <p:txBody>
          <a:bodyPr wrap="square" rtlCol="0">
            <a:spAutoFit/>
          </a:bodyPr>
          <a:lstStyle/>
          <a:p>
            <a:r>
              <a:rPr lang="en-US" sz="1600" dirty="0"/>
              <a:t>OTA release notes provide customers with insight into what fixes or changes may have been implemented to improve the user experience within their vehicle. The driver will see these release notes prior to installing a software update in their vehicle. The creation and distribution of this content requires collaboration between the team requesting the release notes and the writers on the Interface Design team.</a:t>
            </a:r>
          </a:p>
          <a:p>
            <a:r>
              <a:rPr lang="en-US" sz="1600" dirty="0"/>
              <a:t>This artifact was created to:</a:t>
            </a:r>
          </a:p>
          <a:p>
            <a:pPr marL="285750" indent="-285750">
              <a:buFont typeface="Arial" panose="020B0604020202020204" pitchFamily="34" charset="0"/>
              <a:buChar char="•"/>
            </a:pPr>
            <a:r>
              <a:rPr lang="en-US" sz="1600" dirty="0"/>
              <a:t>Provide documentation or the OTA update process, with the understanding that this process will undergo continuous improvements.</a:t>
            </a:r>
          </a:p>
          <a:p>
            <a:pPr marL="285750" indent="-285750">
              <a:buFont typeface="Arial" panose="020B0604020202020204" pitchFamily="34" charset="0"/>
              <a:buChar char="•"/>
            </a:pPr>
            <a:r>
              <a:rPr lang="en-US" sz="1600" dirty="0"/>
              <a:t>Provide resources and tools to assist writers in creating OTA updates.</a:t>
            </a:r>
          </a:p>
          <a:p>
            <a:pPr marL="285750" indent="-285750">
              <a:buFont typeface="Arial" panose="020B0604020202020204" pitchFamily="34" charset="0"/>
              <a:buChar char="•"/>
            </a:pPr>
            <a:r>
              <a:rPr lang="en-US" sz="1600" dirty="0"/>
              <a:t>Defining the teams and individual contributors that are essential to the creation of updates that are accurate and suited to the audience. </a:t>
            </a:r>
          </a:p>
          <a:p>
            <a:r>
              <a:rPr lang="en-US" sz="1600" dirty="0"/>
              <a:t> </a:t>
            </a:r>
          </a:p>
          <a:p>
            <a:r>
              <a:rPr lang="en-US" sz="1600" dirty="0"/>
              <a:t>Contributors:</a:t>
            </a:r>
          </a:p>
          <a:p>
            <a:pPr marL="285750" indent="-285750">
              <a:buFont typeface="Arial" panose="020B0604020202020204" pitchFamily="34" charset="0"/>
              <a:buChar char="•"/>
            </a:pPr>
            <a:r>
              <a:rPr lang="en-US" sz="1600" dirty="0" err="1"/>
              <a:t>Xxx</a:t>
            </a:r>
            <a:r>
              <a:rPr lang="en-US" sz="1600" dirty="0"/>
              <a:t> xxx, Lead Writer for In Vehicle Content, Interface Design</a:t>
            </a:r>
          </a:p>
          <a:p>
            <a:pPr marL="285750" indent="-285750">
              <a:buFont typeface="Arial" panose="020B0604020202020204" pitchFamily="34" charset="0"/>
              <a:buChar char="•"/>
            </a:pPr>
            <a:r>
              <a:rPr lang="en-US" sz="1600" dirty="0"/>
              <a:t>Emily Piech, Technical Writer, Interface Design</a:t>
            </a:r>
          </a:p>
          <a:p>
            <a:pPr marL="285750" indent="-285750">
              <a:buFont typeface="Arial" panose="020B0604020202020204" pitchFamily="34" charset="0"/>
              <a:buChar char="•"/>
            </a:pPr>
            <a:r>
              <a:rPr lang="en-US" sz="1600" dirty="0" err="1"/>
              <a:t>Xxx</a:t>
            </a:r>
            <a:r>
              <a:rPr lang="en-US" sz="1600" dirty="0"/>
              <a:t> xxx, Producer, Interface Design Operations</a:t>
            </a:r>
          </a:p>
          <a:p>
            <a:pPr marL="285750" indent="-285750">
              <a:buFont typeface="Arial" panose="020B0604020202020204" pitchFamily="34" charset="0"/>
              <a:buChar char="•"/>
            </a:pPr>
            <a:r>
              <a:rPr lang="en-US" sz="1600" dirty="0"/>
              <a:t>Requestors, VSEs, DREs, Product, Legal, Marketing</a:t>
            </a:r>
          </a:p>
          <a:p>
            <a:endParaRPr lang="en-US" sz="1600" dirty="0"/>
          </a:p>
          <a:p>
            <a:endParaRPr lang="en-US" sz="1600" dirty="0"/>
          </a:p>
        </p:txBody>
      </p:sp>
    </p:spTree>
    <p:extLst>
      <p:ext uri="{BB962C8B-B14F-4D97-AF65-F5344CB8AC3E}">
        <p14:creationId xmlns:p14="http://schemas.microsoft.com/office/powerpoint/2010/main" val="1779007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8B690-9498-B42F-9CBE-750B5D179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35BAE-CC68-4A18-CD64-0332B77B54CD}"/>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General Guidelines</a:t>
            </a:r>
          </a:p>
        </p:txBody>
      </p:sp>
      <p:sp>
        <p:nvSpPr>
          <p:cNvPr id="3" name="TextBox 2">
            <a:extLst>
              <a:ext uri="{FF2B5EF4-FFF2-40B4-BE49-F238E27FC236}">
                <a16:creationId xmlns:a16="http://schemas.microsoft.com/office/drawing/2014/main" id="{FCAE7877-F06D-7F59-FEBA-6745C7DF80BC}"/>
              </a:ext>
            </a:extLst>
          </p:cNvPr>
          <p:cNvSpPr txBox="1"/>
          <p:nvPr/>
        </p:nvSpPr>
        <p:spPr>
          <a:xfrm>
            <a:off x="838200" y="1111045"/>
            <a:ext cx="10515600" cy="3293209"/>
          </a:xfrm>
          <a:prstGeom prst="rect">
            <a:avLst/>
          </a:prstGeom>
          <a:noFill/>
        </p:spPr>
        <p:txBody>
          <a:bodyPr wrap="square" rtlCol="0">
            <a:spAutoFit/>
          </a:bodyPr>
          <a:lstStyle/>
          <a:p>
            <a:r>
              <a:rPr lang="en-US" sz="1600" dirty="0"/>
              <a:t>The goal of the OTA update release notes should be to inform the driver of changes that they will notice while using their vehicle after installing the software update. These general guidelines are meant to ensure that the information presented to the driver is clear, accurate, informational, and adherent to legal guidelines. </a:t>
            </a:r>
          </a:p>
          <a:p>
            <a:endParaRPr lang="en-US" sz="1600" dirty="0"/>
          </a:p>
          <a:p>
            <a:r>
              <a:rPr lang="en-US" sz="1600" b="1" dirty="0"/>
              <a:t>Include:</a:t>
            </a:r>
          </a:p>
          <a:p>
            <a:pPr marL="285750" indent="-285750">
              <a:buFont typeface="Arial" panose="020B0604020202020204" pitchFamily="34" charset="0"/>
              <a:buChar char="•"/>
            </a:pPr>
            <a:r>
              <a:rPr lang="en-US" sz="1600" dirty="0"/>
              <a:t>Fixes and improvements that may be impactful for the driver.</a:t>
            </a:r>
          </a:p>
          <a:p>
            <a:pPr marL="285750" indent="-285750">
              <a:buFont typeface="Arial" panose="020B0604020202020204" pitchFamily="34" charset="0"/>
              <a:buChar char="•"/>
            </a:pPr>
            <a:r>
              <a:rPr lang="en-US" sz="1600" dirty="0"/>
              <a:t>The system or feature that is affected by each change.</a:t>
            </a:r>
          </a:p>
          <a:p>
            <a:pPr marL="285750" indent="-285750">
              <a:buFont typeface="Arial" panose="020B0604020202020204" pitchFamily="34" charset="0"/>
              <a:buChar char="•"/>
            </a:pPr>
            <a:endParaRPr lang="en-US" sz="1600" dirty="0"/>
          </a:p>
          <a:p>
            <a:r>
              <a:rPr lang="en-US" sz="1600" b="1" dirty="0"/>
              <a:t>Avoid:</a:t>
            </a:r>
          </a:p>
          <a:p>
            <a:pPr marL="285750" indent="-285750">
              <a:buFont typeface="Arial" panose="020B0604020202020204" pitchFamily="34" charset="0"/>
              <a:buChar char="•"/>
            </a:pPr>
            <a:r>
              <a:rPr lang="en-US" sz="1600" dirty="0"/>
              <a:t>Language or content that could be perceived as sales or marketing related.</a:t>
            </a:r>
          </a:p>
          <a:p>
            <a:pPr marL="285750" indent="-285750">
              <a:buFont typeface="Arial" panose="020B0604020202020204" pitchFamily="34" charset="0"/>
              <a:buChar char="•"/>
            </a:pPr>
            <a:r>
              <a:rPr lang="en-US" sz="1600" dirty="0"/>
              <a:t>Any statements that are misleading or that overstate the fix.</a:t>
            </a:r>
          </a:p>
          <a:p>
            <a:pPr marL="285750" indent="-285750">
              <a:buFont typeface="Arial" panose="020B0604020202020204" pitchFamily="34" charset="0"/>
              <a:buChar char="•"/>
            </a:pPr>
            <a:r>
              <a:rPr lang="en-US" sz="1600" dirty="0"/>
              <a:t>OTA updates that include an excess of content. Large updates may affect the way the content is displayed in the vehicle. The limit should be around 5 or 6 bullet points.</a:t>
            </a:r>
          </a:p>
        </p:txBody>
      </p:sp>
    </p:spTree>
    <p:extLst>
      <p:ext uri="{BB962C8B-B14F-4D97-AF65-F5344CB8AC3E}">
        <p14:creationId xmlns:p14="http://schemas.microsoft.com/office/powerpoint/2010/main" val="3338520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604CA-FE39-728E-8BAA-2C383CA6C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C07A4-8152-B5BA-65B0-2F8626AB3966}"/>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Process Map</a:t>
            </a:r>
          </a:p>
        </p:txBody>
      </p:sp>
      <p:pic>
        <p:nvPicPr>
          <p:cNvPr id="4" name="Picture 3">
            <a:extLst>
              <a:ext uri="{FF2B5EF4-FFF2-40B4-BE49-F238E27FC236}">
                <a16:creationId xmlns:a16="http://schemas.microsoft.com/office/drawing/2014/main" id="{68F4E938-4B54-F442-4070-475F0CD4E148}"/>
              </a:ext>
            </a:extLst>
          </p:cNvPr>
          <p:cNvPicPr>
            <a:picLocks noChangeAspect="1"/>
          </p:cNvPicPr>
          <p:nvPr/>
        </p:nvPicPr>
        <p:blipFill>
          <a:blip r:embed="rId2"/>
          <a:stretch>
            <a:fillRect/>
          </a:stretch>
        </p:blipFill>
        <p:spPr>
          <a:xfrm>
            <a:off x="2276708" y="1101182"/>
            <a:ext cx="7102455" cy="5524979"/>
          </a:xfrm>
          <a:prstGeom prst="rect">
            <a:avLst/>
          </a:prstGeom>
        </p:spPr>
      </p:pic>
    </p:spTree>
    <p:extLst>
      <p:ext uri="{BB962C8B-B14F-4D97-AF65-F5344CB8AC3E}">
        <p14:creationId xmlns:p14="http://schemas.microsoft.com/office/powerpoint/2010/main" val="1360969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66E11-8F7F-99D2-67B7-36450AD25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B3510-BC12-84B0-B507-098A05A93BFA}"/>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SharePoint Request Form</a:t>
            </a:r>
          </a:p>
        </p:txBody>
      </p:sp>
      <p:sp>
        <p:nvSpPr>
          <p:cNvPr id="3" name="TextBox 2">
            <a:extLst>
              <a:ext uri="{FF2B5EF4-FFF2-40B4-BE49-F238E27FC236}">
                <a16:creationId xmlns:a16="http://schemas.microsoft.com/office/drawing/2014/main" id="{658B0A64-2765-3490-C77E-B9E6070BC2A7}"/>
              </a:ext>
            </a:extLst>
          </p:cNvPr>
          <p:cNvSpPr txBox="1"/>
          <p:nvPr/>
        </p:nvSpPr>
        <p:spPr>
          <a:xfrm>
            <a:off x="924232" y="1229032"/>
            <a:ext cx="10429568" cy="830997"/>
          </a:xfrm>
          <a:prstGeom prst="rect">
            <a:avLst/>
          </a:prstGeom>
          <a:noFill/>
        </p:spPr>
        <p:txBody>
          <a:bodyPr wrap="square" rtlCol="0">
            <a:spAutoFit/>
          </a:bodyPr>
          <a:lstStyle/>
          <a:p>
            <a:r>
              <a:rPr lang="en-US" sz="1600" dirty="0"/>
              <a:t>The SharePoint request form contains the information used to write the OTA update, although for most requests follow-up questions for the engineers will be necessary. The form is also used to submit the content. This form will be linked to the Jira ticket.</a:t>
            </a:r>
          </a:p>
        </p:txBody>
      </p:sp>
      <p:pic>
        <p:nvPicPr>
          <p:cNvPr id="5" name="Picture 4">
            <a:extLst>
              <a:ext uri="{FF2B5EF4-FFF2-40B4-BE49-F238E27FC236}">
                <a16:creationId xmlns:a16="http://schemas.microsoft.com/office/drawing/2014/main" id="{D9D93985-D47F-FC22-4CF9-0D16DBC019AE}"/>
              </a:ext>
            </a:extLst>
          </p:cNvPr>
          <p:cNvPicPr>
            <a:picLocks noChangeAspect="1"/>
          </p:cNvPicPr>
          <p:nvPr/>
        </p:nvPicPr>
        <p:blipFill>
          <a:blip r:embed="rId2"/>
          <a:stretch>
            <a:fillRect/>
          </a:stretch>
        </p:blipFill>
        <p:spPr>
          <a:xfrm>
            <a:off x="2959509" y="2364829"/>
            <a:ext cx="5721547" cy="3794162"/>
          </a:xfrm>
          <a:prstGeom prst="rect">
            <a:avLst/>
          </a:prstGeom>
        </p:spPr>
      </p:pic>
    </p:spTree>
    <p:extLst>
      <p:ext uri="{BB962C8B-B14F-4D97-AF65-F5344CB8AC3E}">
        <p14:creationId xmlns:p14="http://schemas.microsoft.com/office/powerpoint/2010/main" val="1275251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50D34-4929-26D6-227F-E7488593D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DD8DE-6EB7-5C88-8FC4-1CA8CB86EF87}"/>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SharePoint Request Form Information</a:t>
            </a:r>
          </a:p>
        </p:txBody>
      </p:sp>
      <p:sp>
        <p:nvSpPr>
          <p:cNvPr id="3" name="TextBox 2">
            <a:extLst>
              <a:ext uri="{FF2B5EF4-FFF2-40B4-BE49-F238E27FC236}">
                <a16:creationId xmlns:a16="http://schemas.microsoft.com/office/drawing/2014/main" id="{CA844DE0-7C4F-2267-3A31-E15917A3AFC3}"/>
              </a:ext>
            </a:extLst>
          </p:cNvPr>
          <p:cNvSpPr txBox="1"/>
          <p:nvPr/>
        </p:nvSpPr>
        <p:spPr>
          <a:xfrm>
            <a:off x="838200" y="1130710"/>
            <a:ext cx="10515600" cy="1661993"/>
          </a:xfrm>
          <a:prstGeom prst="rect">
            <a:avLst/>
          </a:prstGeom>
          <a:noFill/>
        </p:spPr>
        <p:txBody>
          <a:bodyPr wrap="square" rtlCol="0">
            <a:spAutoFit/>
          </a:bodyPr>
          <a:lstStyle/>
          <a:p>
            <a:r>
              <a:rPr lang="en-US" sz="1600" dirty="0"/>
              <a:t>Below are the areas of the OTA update SharePoint page that the writer will use to determine the content for the OTA update, view the contacts / stakeholders, and submit the content. </a:t>
            </a:r>
          </a:p>
          <a:p>
            <a:endParaRPr lang="en-US" sz="1600" dirty="0"/>
          </a:p>
          <a:p>
            <a:r>
              <a:rPr lang="en-US" sz="1600" dirty="0"/>
              <a:t>The date that the release notes are due is seen here. If this date is not reasonable for the size of the update of the difficulty level of interpreting the input, request through Pam that the date be moved.</a:t>
            </a:r>
          </a:p>
          <a:p>
            <a:endParaRPr lang="en-US" dirty="0"/>
          </a:p>
        </p:txBody>
      </p:sp>
      <p:sp>
        <p:nvSpPr>
          <p:cNvPr id="6" name="TextBox 5">
            <a:extLst>
              <a:ext uri="{FF2B5EF4-FFF2-40B4-BE49-F238E27FC236}">
                <a16:creationId xmlns:a16="http://schemas.microsoft.com/office/drawing/2014/main" id="{251EA420-9610-4B3E-007C-2664BC92459A}"/>
              </a:ext>
            </a:extLst>
          </p:cNvPr>
          <p:cNvSpPr txBox="1"/>
          <p:nvPr/>
        </p:nvSpPr>
        <p:spPr>
          <a:xfrm>
            <a:off x="838200" y="4070555"/>
            <a:ext cx="10515600" cy="1107996"/>
          </a:xfrm>
          <a:prstGeom prst="rect">
            <a:avLst/>
          </a:prstGeom>
          <a:noFill/>
        </p:spPr>
        <p:txBody>
          <a:bodyPr wrap="square" rtlCol="0">
            <a:spAutoFit/>
          </a:bodyPr>
          <a:lstStyle/>
          <a:p>
            <a:r>
              <a:rPr lang="en-US" sz="1600" dirty="0"/>
              <a:t>Under Team are the contacts for the release. If any follow-up questions are needed, include the people listed in this section in your email.</a:t>
            </a:r>
          </a:p>
          <a:p>
            <a:endParaRPr lang="en-US" sz="1600" dirty="0"/>
          </a:p>
          <a:p>
            <a:endParaRPr lang="en-US" dirty="0"/>
          </a:p>
        </p:txBody>
      </p:sp>
      <p:pic>
        <p:nvPicPr>
          <p:cNvPr id="8" name="Picture 7">
            <a:extLst>
              <a:ext uri="{FF2B5EF4-FFF2-40B4-BE49-F238E27FC236}">
                <a16:creationId xmlns:a16="http://schemas.microsoft.com/office/drawing/2014/main" id="{826C9EC3-3B74-4D7E-630D-B46F16307EF8}"/>
              </a:ext>
            </a:extLst>
          </p:cNvPr>
          <p:cNvPicPr>
            <a:picLocks noChangeAspect="1"/>
          </p:cNvPicPr>
          <p:nvPr/>
        </p:nvPicPr>
        <p:blipFill>
          <a:blip r:embed="rId2"/>
          <a:stretch>
            <a:fillRect/>
          </a:stretch>
        </p:blipFill>
        <p:spPr>
          <a:xfrm>
            <a:off x="838200" y="2372531"/>
            <a:ext cx="3055374" cy="1600434"/>
          </a:xfrm>
          <a:prstGeom prst="rect">
            <a:avLst/>
          </a:prstGeom>
        </p:spPr>
      </p:pic>
      <p:pic>
        <p:nvPicPr>
          <p:cNvPr id="12" name="Picture 11">
            <a:extLst>
              <a:ext uri="{FF2B5EF4-FFF2-40B4-BE49-F238E27FC236}">
                <a16:creationId xmlns:a16="http://schemas.microsoft.com/office/drawing/2014/main" id="{75A59B00-5120-44F7-3513-9B48A3B66991}"/>
              </a:ext>
            </a:extLst>
          </p:cNvPr>
          <p:cNvPicPr>
            <a:picLocks noChangeAspect="1"/>
          </p:cNvPicPr>
          <p:nvPr/>
        </p:nvPicPr>
        <p:blipFill>
          <a:blip r:embed="rId3"/>
          <a:stretch>
            <a:fillRect/>
          </a:stretch>
        </p:blipFill>
        <p:spPr>
          <a:xfrm>
            <a:off x="838200" y="4689987"/>
            <a:ext cx="4165680" cy="1802888"/>
          </a:xfrm>
          <a:prstGeom prst="rect">
            <a:avLst/>
          </a:prstGeom>
        </p:spPr>
      </p:pic>
    </p:spTree>
    <p:extLst>
      <p:ext uri="{BB962C8B-B14F-4D97-AF65-F5344CB8AC3E}">
        <p14:creationId xmlns:p14="http://schemas.microsoft.com/office/powerpoint/2010/main" val="1493010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43043-B033-1BAB-E22F-DC7FBED85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7400A-B140-4B84-DC52-9B4BBFA4DEFD}"/>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SharePoint Request Form to Submit</a:t>
            </a:r>
          </a:p>
        </p:txBody>
      </p:sp>
      <p:sp>
        <p:nvSpPr>
          <p:cNvPr id="3" name="TextBox 2">
            <a:extLst>
              <a:ext uri="{FF2B5EF4-FFF2-40B4-BE49-F238E27FC236}">
                <a16:creationId xmlns:a16="http://schemas.microsoft.com/office/drawing/2014/main" id="{28A8290E-287E-A725-85ED-FDC5D33FD5C7}"/>
              </a:ext>
            </a:extLst>
          </p:cNvPr>
          <p:cNvSpPr txBox="1"/>
          <p:nvPr/>
        </p:nvSpPr>
        <p:spPr>
          <a:xfrm>
            <a:off x="838200" y="1179871"/>
            <a:ext cx="10515600" cy="1138773"/>
          </a:xfrm>
          <a:prstGeom prst="rect">
            <a:avLst/>
          </a:prstGeom>
          <a:noFill/>
        </p:spPr>
        <p:txBody>
          <a:bodyPr wrap="square" rtlCol="0">
            <a:spAutoFit/>
          </a:bodyPr>
          <a:lstStyle/>
          <a:p>
            <a:r>
              <a:rPr lang="en-US" sz="1600" dirty="0"/>
              <a:t>Below are the areas of the OTA update SharePoint page that the writer will fill out. When you have completed these, click Save on the upper left corner of the page.</a:t>
            </a:r>
          </a:p>
          <a:p>
            <a:r>
              <a:rPr lang="en-US" sz="1600" dirty="0"/>
              <a:t>Enter the release notes in the In-Vehicle  Release Notes field. </a:t>
            </a:r>
          </a:p>
          <a:p>
            <a:endParaRPr lang="en-US" dirty="0"/>
          </a:p>
        </p:txBody>
      </p:sp>
      <p:pic>
        <p:nvPicPr>
          <p:cNvPr id="5" name="Picture 4">
            <a:extLst>
              <a:ext uri="{FF2B5EF4-FFF2-40B4-BE49-F238E27FC236}">
                <a16:creationId xmlns:a16="http://schemas.microsoft.com/office/drawing/2014/main" id="{E46988C1-A03A-5C9D-AD5E-D978B051EB10}"/>
              </a:ext>
            </a:extLst>
          </p:cNvPr>
          <p:cNvPicPr>
            <a:picLocks noChangeAspect="1"/>
          </p:cNvPicPr>
          <p:nvPr/>
        </p:nvPicPr>
        <p:blipFill>
          <a:blip r:embed="rId2"/>
          <a:stretch>
            <a:fillRect/>
          </a:stretch>
        </p:blipFill>
        <p:spPr>
          <a:xfrm>
            <a:off x="838200" y="1990548"/>
            <a:ext cx="7302910" cy="2876903"/>
          </a:xfrm>
          <a:prstGeom prst="rect">
            <a:avLst/>
          </a:prstGeom>
        </p:spPr>
      </p:pic>
      <p:sp>
        <p:nvSpPr>
          <p:cNvPr id="6" name="TextBox 5">
            <a:extLst>
              <a:ext uri="{FF2B5EF4-FFF2-40B4-BE49-F238E27FC236}">
                <a16:creationId xmlns:a16="http://schemas.microsoft.com/office/drawing/2014/main" id="{E2E407B6-8418-2078-DAFC-EC5A2E237184}"/>
              </a:ext>
            </a:extLst>
          </p:cNvPr>
          <p:cNvSpPr txBox="1"/>
          <p:nvPr/>
        </p:nvSpPr>
        <p:spPr>
          <a:xfrm>
            <a:off x="924232" y="5024284"/>
            <a:ext cx="2939845" cy="1200329"/>
          </a:xfrm>
          <a:prstGeom prst="rect">
            <a:avLst/>
          </a:prstGeom>
          <a:noFill/>
        </p:spPr>
        <p:txBody>
          <a:bodyPr wrap="square" rtlCol="0">
            <a:spAutoFit/>
          </a:bodyPr>
          <a:lstStyle/>
          <a:p>
            <a:r>
              <a:rPr lang="en-US" dirty="0"/>
              <a:t>To submit the release notes, select Yes under Ready for Group Product Manager Review. </a:t>
            </a:r>
          </a:p>
        </p:txBody>
      </p:sp>
      <p:pic>
        <p:nvPicPr>
          <p:cNvPr id="8" name="Picture 7">
            <a:extLst>
              <a:ext uri="{FF2B5EF4-FFF2-40B4-BE49-F238E27FC236}">
                <a16:creationId xmlns:a16="http://schemas.microsoft.com/office/drawing/2014/main" id="{20E94BE9-F29E-2E24-F4B8-5CC8310AB6C7}"/>
              </a:ext>
            </a:extLst>
          </p:cNvPr>
          <p:cNvPicPr>
            <a:picLocks noChangeAspect="1"/>
          </p:cNvPicPr>
          <p:nvPr/>
        </p:nvPicPr>
        <p:blipFill>
          <a:blip r:embed="rId3"/>
          <a:stretch>
            <a:fillRect/>
          </a:stretch>
        </p:blipFill>
        <p:spPr>
          <a:xfrm>
            <a:off x="3496121" y="5075760"/>
            <a:ext cx="4644989" cy="1417115"/>
          </a:xfrm>
          <a:prstGeom prst="rect">
            <a:avLst/>
          </a:prstGeom>
        </p:spPr>
      </p:pic>
    </p:spTree>
    <p:extLst>
      <p:ext uri="{BB962C8B-B14F-4D97-AF65-F5344CB8AC3E}">
        <p14:creationId xmlns:p14="http://schemas.microsoft.com/office/powerpoint/2010/main" val="1355798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C7A60-4503-E9DD-DD9F-58318EC91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F4F20-AB58-BC00-AAF4-69BB5714F4CF}"/>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Systems and Resources</a:t>
            </a:r>
          </a:p>
        </p:txBody>
      </p:sp>
      <p:sp>
        <p:nvSpPr>
          <p:cNvPr id="3" name="TextBox 2">
            <a:extLst>
              <a:ext uri="{FF2B5EF4-FFF2-40B4-BE49-F238E27FC236}">
                <a16:creationId xmlns:a16="http://schemas.microsoft.com/office/drawing/2014/main" id="{485DE0E0-23BE-C289-A5DD-C73A212B1CEB}"/>
              </a:ext>
            </a:extLst>
          </p:cNvPr>
          <p:cNvSpPr txBox="1"/>
          <p:nvPr/>
        </p:nvSpPr>
        <p:spPr>
          <a:xfrm>
            <a:off x="838200" y="1189703"/>
            <a:ext cx="10515600" cy="1877437"/>
          </a:xfrm>
          <a:prstGeom prst="rect">
            <a:avLst/>
          </a:prstGeom>
          <a:noFill/>
        </p:spPr>
        <p:txBody>
          <a:bodyPr wrap="square" rtlCol="0">
            <a:spAutoFit/>
          </a:bodyPr>
          <a:lstStyle/>
          <a:p>
            <a:r>
              <a:rPr lang="en-US" sz="1600" b="1" dirty="0"/>
              <a:t>Style Guide:</a:t>
            </a:r>
          </a:p>
          <a:p>
            <a:r>
              <a:rPr lang="en-US" sz="1600" dirty="0"/>
              <a:t>The Style Guide should be referenced to ensure the language used in OTA updates in consistent with other Interface Design content. The software release notes section provides guidance on format and nomenclature for release notes. The terms section can also be helpful when determining the appropriate customer term for certain features or systems.</a:t>
            </a:r>
          </a:p>
          <a:p>
            <a:r>
              <a:rPr lang="en-US" sz="1600" i="1" dirty="0"/>
              <a:t>**Link was here, excluded for portfolio purposes.</a:t>
            </a:r>
          </a:p>
          <a:p>
            <a:endParaRPr lang="en-US" i="1" dirty="0"/>
          </a:p>
        </p:txBody>
      </p:sp>
      <p:pic>
        <p:nvPicPr>
          <p:cNvPr id="7" name="Picture 6">
            <a:extLst>
              <a:ext uri="{FF2B5EF4-FFF2-40B4-BE49-F238E27FC236}">
                <a16:creationId xmlns:a16="http://schemas.microsoft.com/office/drawing/2014/main" id="{14B70329-9C58-FE2F-D16A-86B549DA84B2}"/>
              </a:ext>
            </a:extLst>
          </p:cNvPr>
          <p:cNvPicPr>
            <a:picLocks noChangeAspect="1"/>
          </p:cNvPicPr>
          <p:nvPr/>
        </p:nvPicPr>
        <p:blipFill>
          <a:blip r:embed="rId2"/>
          <a:stretch>
            <a:fillRect/>
          </a:stretch>
        </p:blipFill>
        <p:spPr>
          <a:xfrm>
            <a:off x="915831" y="2916228"/>
            <a:ext cx="3066234" cy="3692182"/>
          </a:xfrm>
          <a:prstGeom prst="rect">
            <a:avLst/>
          </a:prstGeom>
        </p:spPr>
      </p:pic>
    </p:spTree>
    <p:extLst>
      <p:ext uri="{BB962C8B-B14F-4D97-AF65-F5344CB8AC3E}">
        <p14:creationId xmlns:p14="http://schemas.microsoft.com/office/powerpoint/2010/main" val="455809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4C9C8-91FF-F493-4EB6-61EB184B4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3FBF9-B457-736B-3AC5-14C97F3000B4}"/>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Systems and Resources</a:t>
            </a:r>
          </a:p>
        </p:txBody>
      </p:sp>
    </p:spTree>
    <p:extLst>
      <p:ext uri="{BB962C8B-B14F-4D97-AF65-F5344CB8AC3E}">
        <p14:creationId xmlns:p14="http://schemas.microsoft.com/office/powerpoint/2010/main" val="3227231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52F0E-9F1C-8844-5C13-E83B1F4CB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93C24-087B-692B-C2F6-5DBBBC5E4036}"/>
              </a:ext>
            </a:extLst>
          </p:cNvPr>
          <p:cNvSpPr>
            <a:spLocks noGrp="1"/>
          </p:cNvSpPr>
          <p:nvPr>
            <p:ph type="title"/>
          </p:nvPr>
        </p:nvSpPr>
        <p:spPr>
          <a:xfrm>
            <a:off x="838200" y="365125"/>
            <a:ext cx="10515600" cy="559107"/>
          </a:xfrm>
          <a:solidFill>
            <a:schemeClr val="tx2">
              <a:lumMod val="50000"/>
              <a:lumOff val="50000"/>
            </a:schemeClr>
          </a:solidFill>
        </p:spPr>
        <p:txBody>
          <a:bodyPr>
            <a:normAutofit/>
          </a:bodyPr>
          <a:lstStyle/>
          <a:p>
            <a:pPr algn="ctr"/>
            <a:r>
              <a:rPr lang="en-US" sz="2800" b="1" dirty="0">
                <a:solidFill>
                  <a:schemeClr val="bg1"/>
                </a:solidFill>
              </a:rPr>
              <a:t>Systems and Resources</a:t>
            </a:r>
          </a:p>
        </p:txBody>
      </p:sp>
    </p:spTree>
    <p:extLst>
      <p:ext uri="{BB962C8B-B14F-4D97-AF65-F5344CB8AC3E}">
        <p14:creationId xmlns:p14="http://schemas.microsoft.com/office/powerpoint/2010/main" val="3903937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20C1C-1D99-76B9-A722-375D4DEB1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E8894-3D60-B136-9ED0-23B7F3D50CE6}"/>
              </a:ext>
            </a:extLst>
          </p:cNvPr>
          <p:cNvSpPr>
            <a:spLocks noGrp="1"/>
          </p:cNvSpPr>
          <p:nvPr>
            <p:ph type="title"/>
          </p:nvPr>
        </p:nvSpPr>
        <p:spPr>
          <a:xfrm>
            <a:off x="838200" y="424119"/>
            <a:ext cx="10515600" cy="559107"/>
          </a:xfrm>
          <a:solidFill>
            <a:schemeClr val="tx2">
              <a:lumMod val="50000"/>
              <a:lumOff val="50000"/>
            </a:schemeClr>
          </a:solidFill>
        </p:spPr>
        <p:txBody>
          <a:bodyPr>
            <a:normAutofit/>
          </a:bodyPr>
          <a:lstStyle/>
          <a:p>
            <a:pPr algn="ctr"/>
            <a:r>
              <a:rPr lang="en-US" sz="2800" b="1" dirty="0">
                <a:solidFill>
                  <a:schemeClr val="bg1"/>
                </a:solidFill>
              </a:rPr>
              <a:t>Recall / Safety / Non-Compliance</a:t>
            </a:r>
          </a:p>
        </p:txBody>
      </p:sp>
    </p:spTree>
    <p:extLst>
      <p:ext uri="{BB962C8B-B14F-4D97-AF65-F5344CB8AC3E}">
        <p14:creationId xmlns:p14="http://schemas.microsoft.com/office/powerpoint/2010/main" val="4208243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1B1C9-8C91-8934-1186-BC0F48655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6D06A-EAE5-1514-EC9A-291154CB0483}"/>
              </a:ext>
            </a:extLst>
          </p:cNvPr>
          <p:cNvSpPr>
            <a:spLocks noGrp="1"/>
          </p:cNvSpPr>
          <p:nvPr>
            <p:ph type="title"/>
          </p:nvPr>
        </p:nvSpPr>
        <p:spPr>
          <a:xfrm>
            <a:off x="838200" y="424119"/>
            <a:ext cx="10515600" cy="559107"/>
          </a:xfrm>
          <a:solidFill>
            <a:schemeClr val="tx2">
              <a:lumMod val="50000"/>
              <a:lumOff val="50000"/>
            </a:schemeClr>
          </a:solidFill>
        </p:spPr>
        <p:txBody>
          <a:bodyPr>
            <a:normAutofit/>
          </a:bodyPr>
          <a:lstStyle/>
          <a:p>
            <a:pPr algn="ctr"/>
            <a:r>
              <a:rPr lang="en-US" sz="2800" b="1" dirty="0">
                <a:solidFill>
                  <a:schemeClr val="bg1"/>
                </a:solidFill>
              </a:rPr>
              <a:t>Enhanced OTA Updates</a:t>
            </a:r>
          </a:p>
        </p:txBody>
      </p:sp>
    </p:spTree>
    <p:extLst>
      <p:ext uri="{BB962C8B-B14F-4D97-AF65-F5344CB8AC3E}">
        <p14:creationId xmlns:p14="http://schemas.microsoft.com/office/powerpoint/2010/main" val="3513564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TotalTime>
  <Words>664</Words>
  <Application>Microsoft Office PowerPoint</Application>
  <PresentationFormat>Widescreen</PresentationFormat>
  <Paragraphs>46</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OTA Update Process Documentation for Writing Team</vt:lpstr>
      <vt:lpstr>Overview</vt:lpstr>
      <vt:lpstr>General Guidelines</vt:lpstr>
      <vt:lpstr>Process Map</vt:lpstr>
      <vt:lpstr>SharePoint Request Form</vt:lpstr>
      <vt:lpstr>SharePoint Request Form Information</vt:lpstr>
      <vt:lpstr>SharePoint Request Form to Submit</vt:lpstr>
      <vt:lpstr>Systems and Resources</vt:lpstr>
      <vt:lpstr>Systems and Resources</vt:lpstr>
      <vt:lpstr>Systems and Resources</vt:lpstr>
      <vt:lpstr>Recall / Safety / Non-Compliance</vt:lpstr>
      <vt:lpstr>Enhanced OTA Updates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Piech</dc:creator>
  <cp:lastModifiedBy>Emily Piech</cp:lastModifiedBy>
  <cp:revision>1</cp:revision>
  <dcterms:created xsi:type="dcterms:W3CDTF">2025-07-08T13:30:26Z</dcterms:created>
  <dcterms:modified xsi:type="dcterms:W3CDTF">2025-07-08T18:08:42Z</dcterms:modified>
</cp:coreProperties>
</file>